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Plus Jakarta Sans"/>
      <ns0:italic ns1:id="rIdFont25"/>
      <ns0:bold ns1:id="rIdFont26"/>
      <ns0:regular ns1:id="rIdFont27"/>
    </ns0:embeddedFont>
    <ns0:embeddedFont>
      <ns0:font typeface="Space Grotesk"/>
      <ns0:bold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2f0fb4d5-9f8e-4708-9e03-f7da3c9001b2.fntdata" /><ns0:Relationship Id="rIdFont26" Type="http://schemas.openxmlformats.org/officeDocument/2006/relationships/font" Target="fonts/444e6204-64ad-4711-93e4-f2e0443c1adf.fntdata" /><ns0:Relationship Id="rIdFont27" Type="http://schemas.openxmlformats.org/officeDocument/2006/relationships/font" Target="fonts/40d9759f-5d34-4cac-a3eb-62367c431fbe.fntdata" /><ns0:Relationship Id="rIdFont28" Type="http://schemas.openxmlformats.org/officeDocument/2006/relationships/font" Target="fonts/ee0af292-7be6-476a-a69c-c9de2fa77be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00476"/>
            <a:ext cx="5372100" cy="1323975"/>
          </a:xfrm>
          <a:prstGeom prst="roundRect">
            <a:avLst>
              <a:gd name="adj" fmla="val 86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5000476"/>
            <a:ext cx="5372100" cy="1323975"/>
          </a:xfrm>
          <a:prstGeom prst="roundRect">
            <a:avLst>
              <a:gd name="adj" fmla="val 86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3833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TY BCS • DIVISION ___ • SAD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86950" y="533400"/>
            <a:ext cx="2119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Academic Year 2025–2026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58330"/>
            <a:ext cx="11582400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ONLINE SHOPPING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80295"/>
            <a:ext cx="952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System Analysis &amp; Design Documentation for E-Commerce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5200501"/>
            <a:ext cx="621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PROJECT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5448151"/>
            <a:ext cx="621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• Name 1 – Roll No. 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5686276"/>
            <a:ext cx="621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• Name 2 – Roll No.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5924401"/>
            <a:ext cx="6215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• Name 3 – Roll No. 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5295751"/>
            <a:ext cx="5781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PROJECT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5524351"/>
            <a:ext cx="5781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Prof. 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5857726"/>
            <a:ext cx="5781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SVPM's College of Computer Science, Baramati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3025"/>
            <a:ext cx="5648325" cy="5057775"/>
          </a:xfrm>
          <a:prstGeom prst="roundRect">
            <a:avLst>
              <a:gd name="adj" fmla="val 2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1343025"/>
            <a:ext cx="5095875" cy="3219450"/>
          </a:xfrm>
          <a:prstGeom prst="roundRect">
            <a:avLst>
              <a:gd name="adj" fmla="val 355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86525" y="4752975"/>
            <a:ext cx="5095875" cy="1647825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24650" y="4991100"/>
            <a:ext cx="2233612" cy="1171575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10662" y="4991100"/>
            <a:ext cx="2233612" cy="1171575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4306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164306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75" y="5153025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587" y="5153025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01 •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 Identification &amp;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1619250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Problem Identification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009775"/>
            <a:ext cx="5191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Physical Store Dependency: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Requires customer physical store presence.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603896"/>
            <a:ext cx="636984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Price &amp; Availability Delays: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Manual inventory inquiry delays.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958107"/>
            <a:ext cx="5191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Difficult Product Comparison: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Inconvenient manual product evaluation.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552229"/>
            <a:ext cx="5191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Manual Order Tracking: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Paper records limit shopkeeper efficiency.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1971675"/>
            <a:ext cx="463867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E3A8A"/>
                </a:solidFill>
                <a:latin typeface="Plus Jakarta Sans"/>
              </a:rPr>
              <a:t>"To develop a proposed </a:t>
            </a:r>
            <a:r>
              <a:rPr b="1" sz="1350" i="0" u="none">
                <a:solidFill>
                  <a:srgbClr val="1E3A8A"/>
                </a:solidFill>
                <a:latin typeface="Plus Jakarta Sans"/>
              </a:rPr>
              <a:t>Online Shopping System</a:t>
            </a:r>
            <a:r>
              <a:rPr b="0" sz="1350" i="0" u="none">
                <a:solidFill>
                  <a:srgbClr val="1E3A8A"/>
                </a:solidFill>
                <a:latin typeface="Plus Jakarta Sans"/>
              </a:rPr>
              <a:t> that allows customers to browse products, search items, add items to cart, and place orders through a unified web platform."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7550" y="1619250"/>
            <a:ext cx="223777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Plus Jakarta Sans"/>
              </a:rPr>
              <a:t>Problem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6575" y="541972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6575" y="5657850"/>
            <a:ext cx="200501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Browse, search, and purchase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587" y="5419725"/>
            <a:ext cx="250656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Administrator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587" y="5657850"/>
            <a:ext cx="200501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Manage stock, orders, and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52675"/>
            <a:ext cx="5372100" cy="3038475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71750"/>
            <a:ext cx="5372100" cy="260032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057525"/>
            <a:ext cx="48196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600450"/>
            <a:ext cx="48196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4143375"/>
            <a:ext cx="48196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686300"/>
            <a:ext cx="48196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6525" y="3276600"/>
            <a:ext cx="2333625" cy="733425"/>
          </a:xfrm>
          <a:prstGeom prst="roundRect">
            <a:avLst>
              <a:gd name="adj" fmla="val 1038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72550" y="3276600"/>
            <a:ext cx="2333625" cy="733425"/>
          </a:xfrm>
          <a:prstGeom prst="roundRect">
            <a:avLst>
              <a:gd name="adj" fmla="val 1038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86525" y="4162425"/>
            <a:ext cx="2333625" cy="733425"/>
          </a:xfrm>
          <a:prstGeom prst="roundRect">
            <a:avLst>
              <a:gd name="adj" fmla="val 1038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2550" y="4162425"/>
            <a:ext cx="2333625" cy="733425"/>
          </a:xfrm>
          <a:prstGeom prst="roundRect">
            <a:avLst>
              <a:gd name="adj" fmla="val 1038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5825" y="3057525"/>
            <a:ext cx="38100" cy="4286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5825" y="3600450"/>
            <a:ext cx="38100" cy="4286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825" y="4143375"/>
            <a:ext cx="38100" cy="4286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825" y="4686300"/>
            <a:ext cx="38100" cy="4286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652712"/>
            <a:ext cx="2190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871787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02 • System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 Description &amp;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2628900"/>
            <a:ext cx="599574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Existing Traditional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2847975"/>
            <a:ext cx="54197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DC2626"/>
                </a:solidFill>
                <a:latin typeface="Plus Jakarta Sans"/>
              </a:rPr>
              <a:t>Operational Difficulties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325" y="3171825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1. Customer visits physical retail 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" y="3714750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2. Inquires staff regarding specific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4257675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3. Staff manually checks shelf &amp; stock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6325" y="4800600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4. Price verified &amp; physical purchase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450" y="3438525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Time Consuming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3676650"/>
            <a:ext cx="251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Long travel and wait queues.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475" y="3438525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Limited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475" y="3676650"/>
            <a:ext cx="251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Incomplete catalog details.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8450" y="4324350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Human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8450" y="4562475"/>
            <a:ext cx="251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Mistakes in paper billing logs.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475" y="4324350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No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475" y="4562475"/>
            <a:ext cx="251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No status on pending 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43412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95587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2795587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2795587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2795587"/>
            <a:ext cx="26289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443412"/>
            <a:ext cx="38100" cy="5048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043237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043237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043237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150" y="3043237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03 • 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Fact Finding Techniques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595812"/>
            <a:ext cx="10668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Secondary Method Evaluated: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Document Analysis (studying paper bills, sales ledgers, and manual inventory registers).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3386137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662362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discussions with store owners and buyers.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3386137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Questionnaire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662362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Feedback forms collected from potential shoppers.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386137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Observation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662362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mapping of manual sales &amp; checkout 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3386137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System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3662362"/>
            <a:ext cx="22288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Benchmarking existing e-commerce platforms.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048000"/>
            <a:ext cx="676275" cy="219075"/>
          </a:xfrm>
          <a:prstGeom prst="rect">
            <a:avLst/>
          </a:prstGeom>
          <a:solidFill>
            <a:srgbClr val="DCFCE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☑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1125" y="3048000"/>
            <a:ext cx="676275" cy="219075"/>
          </a:xfrm>
          <a:prstGeom prst="rect">
            <a:avLst/>
          </a:prstGeom>
          <a:solidFill>
            <a:srgbClr val="DCFCE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☑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2425" y="3048000"/>
            <a:ext cx="676275" cy="219075"/>
          </a:xfrm>
          <a:prstGeom prst="rect">
            <a:avLst/>
          </a:prstGeom>
          <a:solidFill>
            <a:srgbClr val="DCFCE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☑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3725" y="3048000"/>
            <a:ext cx="676275" cy="219075"/>
          </a:xfrm>
          <a:prstGeom prst="rect">
            <a:avLst/>
          </a:prstGeom>
          <a:solidFill>
            <a:srgbClr val="DCFCE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Plus Jakarta Sans"/>
              </a:rPr>
              <a:t>☑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3025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00325"/>
            <a:ext cx="3555950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7950" y="2600325"/>
            <a:ext cx="3555950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600325"/>
            <a:ext cx="3556099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1828800"/>
            <a:ext cx="97155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21160" y="1828800"/>
            <a:ext cx="981075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66021" y="1828800"/>
            <a:ext cx="1304925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34732" y="1828800"/>
            <a:ext cx="1143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41518" y="1828800"/>
            <a:ext cx="9144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19704" y="1828800"/>
            <a:ext cx="1285875" cy="3810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592" y="1943100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453" y="1943100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164" y="194310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950" y="1943100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136" y="1943100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800350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75" y="2800350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6325" y="2800350"/>
            <a:ext cx="17145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04 • System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Existing System vs Operational Drawbacks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1543050"/>
            <a:ext cx="11306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EXISTING PHYSICAL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5" y="19240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3560" y="1924050"/>
            <a:ext cx="771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Visit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8421" y="1924050"/>
            <a:ext cx="1095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Search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7132" y="1924050"/>
            <a:ext cx="933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Check 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3918" y="1924050"/>
            <a:ext cx="704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Purchase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2104" y="1924050"/>
            <a:ext cx="10763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Plus Jakarta Sans"/>
              </a:rPr>
              <a:t>Manual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3067050"/>
            <a:ext cx="41421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Time Consuming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3305175"/>
            <a:ext cx="3944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Manual product searching and billing.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975" y="3067050"/>
            <a:ext cx="41421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Duplication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975" y="3305175"/>
            <a:ext cx="3944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Redundant entries in paper registers.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6325" y="3067050"/>
            <a:ext cx="39656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Limited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6325" y="3305175"/>
            <a:ext cx="394506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Store hours constrain purchases.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4583459" cy="5095875"/>
          </a:xfrm>
          <a:prstGeom prst="roundRect">
            <a:avLst>
              <a:gd name="adj" fmla="val 24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21659" y="1304925"/>
            <a:ext cx="616074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21659" y="2324100"/>
            <a:ext cx="616074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1659" y="3343275"/>
            <a:ext cx="616074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1659" y="2200275"/>
            <a:ext cx="616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1659" y="1304925"/>
            <a:ext cx="616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1659" y="1304925"/>
            <a:ext cx="47625" cy="9048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72875" y="1304925"/>
            <a:ext cx="9525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1659" y="3219450"/>
            <a:ext cx="616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21659" y="2324100"/>
            <a:ext cx="616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21659" y="2324100"/>
            <a:ext cx="47625" cy="9048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72875" y="2324100"/>
            <a:ext cx="9525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1659" y="4238625"/>
            <a:ext cx="616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21659" y="3343275"/>
            <a:ext cx="616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1659" y="3343275"/>
            <a:ext cx="47625" cy="9048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72875" y="3343275"/>
            <a:ext cx="9525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05 •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System Scope &amp; Feasibility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1543050"/>
            <a:ext cx="53907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Project Functional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1914525"/>
            <a:ext cx="5134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✔ Product Browsing &amp; Searching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181225"/>
            <a:ext cx="5134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✔ Customer Registration &amp;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2447925"/>
            <a:ext cx="5134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✔ Shopping Cart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714625"/>
            <a:ext cx="5134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✔ Order Processing &amp;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981325"/>
            <a:ext cx="5134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✔ Admin Product &amp; User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9784" y="1466850"/>
            <a:ext cx="6532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1. Technical Feasibility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9784" y="1704975"/>
            <a:ext cx="58178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Uses standard web technologies (HTML, CSS, JS, PHP/MySQL). Operates on basic web servers.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9784" y="2486025"/>
            <a:ext cx="6532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2. Economic Feasibility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9784" y="2724150"/>
            <a:ext cx="58178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Built using open-source tools. Drastically lowers paper, staffing, and physical log management costs.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9784" y="3505200"/>
            <a:ext cx="65322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891B2"/>
                </a:solidFill>
                <a:latin typeface="Plus Jakarta Sans"/>
              </a:rPr>
              <a:t>3. Operational Feasibility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9784" y="3743325"/>
            <a:ext cx="58178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Intuitive responsive interfaces allow customers and store admins to operate with basic digital literacy.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04925"/>
            <a:ext cx="5143500" cy="5095875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81700" y="1304925"/>
            <a:ext cx="5600700" cy="2471737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81700" y="3929062"/>
            <a:ext cx="5600700" cy="2471737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1914525"/>
            <a:ext cx="4667250" cy="371475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362200"/>
            <a:ext cx="4667250" cy="371475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2809875"/>
            <a:ext cx="4667250" cy="371475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257550"/>
            <a:ext cx="4667250" cy="371475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66862"/>
            <a:ext cx="1524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06 •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Requirement Specification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1543050"/>
            <a:ext cx="588573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2009775"/>
            <a:ext cx="4495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Customer Details (Name, Email, Mobile, Address)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2457450"/>
            <a:ext cx="4495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Product Catalog (Name, Price, Category, Stock)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2905125"/>
            <a:ext cx="4495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Cart &amp; Order Records (Order ID, Items, Total)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3352800"/>
            <a:ext cx="44958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Payment &amp; Administrative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725" y="1504950"/>
            <a:ext cx="6010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Customer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725" y="1781175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Account creation, product browsing, dynamic filtering, cart updates, checkout, and personal order history 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725" y="4129087"/>
            <a:ext cx="6010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Administrator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725" y="4405312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Category CRUD operations, inventory management, customer record audit, order status updates, and sales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7450"/>
            <a:ext cx="10972800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66825"/>
            <a:ext cx="53911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266825"/>
            <a:ext cx="53911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971800"/>
            <a:ext cx="2023020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46945" y="2971800"/>
            <a:ext cx="202316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4415" y="2971800"/>
            <a:ext cx="2023020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1735" y="2971800"/>
            <a:ext cx="202316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59205" y="2971800"/>
            <a:ext cx="2023020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07 • System Specs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Input, Output &amp; Non-Functional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57475"/>
            <a:ext cx="11382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Non-Functional System Quality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1466850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System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1762125"/>
            <a:ext cx="5086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Customer Registration Data, Search Queries, Cart Items, Delivery Address, Product Stock Entries.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1466850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System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1762125"/>
            <a:ext cx="5086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Product Search Results, Order Receipts, Cart Statements, Inventory Status, Customer Sales Reports.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528" y="3095625"/>
            <a:ext cx="22192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8830" y="3095625"/>
            <a:ext cx="22193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318" y="3095625"/>
            <a:ext cx="22192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620" y="3095625"/>
            <a:ext cx="221939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Usability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1109" y="3095625"/>
            <a:ext cx="221921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Maintainability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3637"/>
            <a:ext cx="10972800" cy="2695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33637"/>
          <a:ext cx="10963274" cy="26955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22165"/>
                <a:gridCol w="1883866"/>
                <a:gridCol w="2865090"/>
                <a:gridCol w="3892153"/>
              </a:tblGrid>
              <a:tr h="38508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Entity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Key (PK)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Foreign Key (FK)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Attributes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508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Customer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Customer_ID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Name, Email, Mobile, Password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508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Category_ID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Category_Name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508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Category_ID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Product_Name, Price, Quantity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508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Cart / Cart_Item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CartItem_ID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Customer_ID, 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Quantity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508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Order / Order_Item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OrderItem_ID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Order_ID, 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Order_Date, Total_Amount, Quantity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508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Payment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Payment_ID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Order_ID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Payment_Date, Amount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08 •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Relational Schema &amp; Key Attributes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23950"/>
            <a:ext cx="1097280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7725" y="3000375"/>
            <a:ext cx="1714500" cy="704850"/>
          </a:xfrm>
          <a:prstGeom prst="roundRect">
            <a:avLst>
              <a:gd name="adj" fmla="val 1081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38750" y="3000375"/>
            <a:ext cx="1714500" cy="704850"/>
          </a:xfrm>
          <a:prstGeom prst="roundRect">
            <a:avLst>
              <a:gd name="adj" fmla="val 1081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29775" y="3000375"/>
            <a:ext cx="1714500" cy="704850"/>
          </a:xfrm>
          <a:prstGeom prst="roundRect">
            <a:avLst>
              <a:gd name="adj" fmla="val 1081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54310" y="3895725"/>
            <a:ext cx="1714500" cy="704850"/>
          </a:xfrm>
          <a:prstGeom prst="roundRect">
            <a:avLst>
              <a:gd name="adj" fmla="val 1081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38452" y="3895725"/>
            <a:ext cx="1714500" cy="704850"/>
          </a:xfrm>
          <a:prstGeom prst="roundRect">
            <a:avLst>
              <a:gd name="adj" fmla="val 1081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2593" y="3895725"/>
            <a:ext cx="1714500" cy="704850"/>
          </a:xfrm>
          <a:prstGeom prst="roundRect">
            <a:avLst>
              <a:gd name="adj" fmla="val 1081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4237" y="3414712"/>
            <a:ext cx="952500" cy="19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5262" y="3414712"/>
            <a:ext cx="952500" cy="19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2131" y="4310062"/>
            <a:ext cx="1143000" cy="19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6273" y="4310062"/>
            <a:ext cx="1143000" cy="19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09 • Data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Entity Relationship (ER)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912" y="3133725"/>
            <a:ext cx="1762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PK: Customer_ID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4937" y="3133725"/>
            <a:ext cx="1762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PK: Order_ID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5962" y="3133725"/>
            <a:ext cx="1762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Plus Jakarta Sans"/>
              </a:rPr>
              <a:t>FK: Product_ID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498" y="4029075"/>
            <a:ext cx="1762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6A34A"/>
                </a:solidFill>
                <a:latin typeface="Plus Jakarta Sans"/>
              </a:rPr>
              <a:t>PK: Category_ID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4639" y="4029075"/>
            <a:ext cx="1762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6A34A"/>
                </a:solidFill>
                <a:latin typeface="Plus Jakarta Sans"/>
              </a:rPr>
              <a:t>PK: Product_ID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8781" y="4029075"/>
            <a:ext cx="1762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6A34A"/>
                </a:solidFill>
                <a:latin typeface="Plus Jakarta Sans"/>
              </a:rPr>
              <a:t>PK: Payment_ID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3152775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40AF"/>
                </a:solidFill>
                <a:latin typeface="Plus Jakarta Sans"/>
              </a:rPr>
              <a:t>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2825" y="3271837"/>
            <a:ext cx="9810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1 : N (Places)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6375" y="3152775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40AF"/>
                </a:solidFill>
                <a:latin typeface="Plus Jakarta Sans"/>
              </a:rPr>
              <a:t>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7175" y="3271837"/>
            <a:ext cx="11144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1 : N (Contains)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7400" y="3152775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40AF"/>
                </a:solidFill>
                <a:latin typeface="Plus Jakarta Sans"/>
              </a:rPr>
              <a:t>Order_Item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1935" y="4048125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66534"/>
                </a:solidFill>
                <a:latin typeface="Plus Jakarta Sans"/>
              </a:rPr>
              <a:t>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3569" y="4167187"/>
            <a:ext cx="1285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1 : N (Categorizes)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6077" y="4048125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66534"/>
                </a:solidFill>
                <a:latin typeface="Plus Jakarta Sans"/>
              </a:rPr>
              <a:t>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5335" y="4167187"/>
            <a:ext cx="1190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1 : N (Generates)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0218" y="4048125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66534"/>
                </a:solidFill>
                <a:latin typeface="Plus Jakarta Sans"/>
              </a:rPr>
              <a:t>Payment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150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57487"/>
            <a:ext cx="3530649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757487"/>
            <a:ext cx="3530649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757487"/>
            <a:ext cx="3530649" cy="1495425"/>
          </a:xfrm>
          <a:prstGeom prst="roundRect">
            <a:avLst>
              <a:gd name="adj" fmla="val 76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995612"/>
            <a:ext cx="419100" cy="247650"/>
          </a:xfrm>
          <a:prstGeom prst="roundRect">
            <a:avLst>
              <a:gd name="adj" fmla="val 1538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68874" y="2995612"/>
            <a:ext cx="438150" cy="247650"/>
          </a:xfrm>
          <a:prstGeom prst="roundRect">
            <a:avLst>
              <a:gd name="adj" fmla="val 1538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90024" y="2995612"/>
            <a:ext cx="447675" cy="247650"/>
          </a:xfrm>
          <a:prstGeom prst="roundRect">
            <a:avLst>
              <a:gd name="adj" fmla="val 15384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10 • Database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Database Normalization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6057900"/>
            <a:ext cx="11344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Benefits Achieved:</a:t>
            </a:r>
            <a:r>
              <a:rPr b="1" sz="1125" i="0" u="none">
                <a:solidFill>
                  <a:srgbClr val="0F172A"/>
                </a:solidFill>
                <a:latin typeface="Plus Jakarta Sans"/>
              </a:rPr>
              <a:t> Prevents Data Redundancy, Insertion Anomalies, Update Anomalies, and Deletion Anomalies.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3033712"/>
            <a:ext cx="3238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1NF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35756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First Normal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52837"/>
            <a:ext cx="31496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Ensures atomic field values and removes repeating data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4124" y="3033712"/>
            <a:ext cx="342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2NF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35756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Second Normal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874" y="3652837"/>
            <a:ext cx="31496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Eliminates partial dependencies on composite primary keys.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274" y="3033712"/>
            <a:ext cx="352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3NF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3357562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Third Normal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024" y="3652837"/>
            <a:ext cx="31496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Removes transitive dependencies for optimized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23950"/>
            <a:ext cx="1097280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9625" y="2652712"/>
            <a:ext cx="3199209" cy="2295525"/>
          </a:xfrm>
          <a:prstGeom prst="roundRect">
            <a:avLst>
              <a:gd name="adj" fmla="val 331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99334" y="2909887"/>
            <a:ext cx="3793331" cy="1781175"/>
          </a:xfrm>
          <a:prstGeom prst="roundRect">
            <a:avLst>
              <a:gd name="adj" fmla="val 6417"/>
            </a:avLst>
          </a:prstGeom>
          <a:noFill/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83165" y="2652712"/>
            <a:ext cx="3199209" cy="2295525"/>
          </a:xfrm>
          <a:prstGeom prst="roundRect">
            <a:avLst>
              <a:gd name="adj" fmla="val 331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1550" y="34718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1550" y="38147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1550" y="41576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1550" y="45005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784" y="3395662"/>
            <a:ext cx="3450431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784" y="3795712"/>
            <a:ext cx="3450431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784" y="4195762"/>
            <a:ext cx="3450431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45090" y="34718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45090" y="38147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5090" y="41576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45090" y="4500562"/>
            <a:ext cx="2875359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879" y="2814637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082" y="2814637"/>
            <a:ext cx="333375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11 • 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UML Use Case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275" y="3157537"/>
            <a:ext cx="37739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Customer 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9718" y="3128962"/>
            <a:ext cx="1452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SYSTEM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5815" y="3157537"/>
            <a:ext cx="37739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Administrator 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280" y="35290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Register / 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280" y="38719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Browse &amp; Search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280" y="42148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Add Products to Cart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280" y="45577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Place Order &amp;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5680" y="3471862"/>
            <a:ext cx="416063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40AF"/>
                </a:solidFill>
                <a:latin typeface="Plus Jakarta Sans"/>
              </a:rPr>
              <a:t>Manage Products &amp; 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5680" y="3871912"/>
            <a:ext cx="416063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40AF"/>
                </a:solidFill>
                <a:latin typeface="Plus Jakarta Sans"/>
              </a:rPr>
              <a:t>Authenticate Users &amp;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5680" y="4271962"/>
            <a:ext cx="416063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40AF"/>
                </a:solidFill>
                <a:latin typeface="Plus Jakarta Sans"/>
              </a:rPr>
              <a:t>Process Orders &amp; Generate Invoice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2820" y="35290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Admin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2820" y="38719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Manage Product 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2820" y="42148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Manage Categories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2820" y="4557712"/>
            <a:ext cx="347989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View System Reports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23950"/>
            <a:ext cx="539115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123950"/>
            <a:ext cx="539115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625" y="1638300"/>
            <a:ext cx="4991100" cy="847725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581275"/>
            <a:ext cx="4991100" cy="847725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91275" y="1638300"/>
            <a:ext cx="4991100" cy="600075"/>
          </a:xfrm>
          <a:prstGeom prst="roundRect">
            <a:avLst>
              <a:gd name="adj" fmla="val 952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91275" y="2333625"/>
            <a:ext cx="4991100" cy="600075"/>
          </a:xfrm>
          <a:prstGeom prst="roundRect">
            <a:avLst>
              <a:gd name="adj" fmla="val 952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3450" y="1971675"/>
            <a:ext cx="4743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3450" y="2914650"/>
            <a:ext cx="4743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12 • Object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Class Diagram &amp; Object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323975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Class Diagram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1323975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Object Diagram View (Instances)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1762125"/>
            <a:ext cx="4838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Customer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2038350"/>
            <a:ext cx="5929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- customerId, name, email,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2219325"/>
            <a:ext cx="5929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2563EB"/>
                </a:solidFill>
                <a:latin typeface="Plus Jakarta Sans"/>
              </a:rPr>
              <a:t>+ register(), login(), placeOrder()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2705100"/>
            <a:ext cx="48387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Product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2981325"/>
            <a:ext cx="5929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"/>
              </a:rPr>
              <a:t>- productId, productName, price, 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3162300"/>
            <a:ext cx="5929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2563EB"/>
                </a:solidFill>
                <a:latin typeface="Plus Jakarta Sans"/>
              </a:rPr>
              <a:t>+ addProduct(), updateProduct()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1762125"/>
            <a:ext cx="5676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customer1 :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1971675"/>
            <a:ext cx="56769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74151"/>
                </a:solidFill>
                <a:latin typeface="Plus Jakarta Sans"/>
              </a:rPr>
              <a:t>id = 101, name = "Rahul", email = "rahul@mail.com"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2457450"/>
            <a:ext cx="56769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product1 :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2667000"/>
            <a:ext cx="56769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74151"/>
                </a:solidFill>
                <a:latin typeface="Plus Jakarta Sans"/>
              </a:rPr>
              <a:t>id = 501, name = "Wireless Mouse", price = $25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23950"/>
            <a:ext cx="539115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123950"/>
            <a:ext cx="539115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43237" y="3057525"/>
            <a:ext cx="523875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38412" y="3524250"/>
            <a:ext cx="1533525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76500" y="4048125"/>
            <a:ext cx="16573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95562" y="4572000"/>
            <a:ext cx="1419225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91275" y="3195637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1275" y="3595687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91275" y="3195637"/>
            <a:ext cx="38100" cy="3238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1275" y="3995737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91275" y="3595687"/>
            <a:ext cx="38100" cy="323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1275" y="4395787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91275" y="3995737"/>
            <a:ext cx="38100" cy="32385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1275" y="4395787"/>
            <a:ext cx="38100" cy="3238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3343275"/>
            <a:ext cx="95250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3867150"/>
            <a:ext cx="95250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4391025"/>
            <a:ext cx="95250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13 • Dynamic Behavioral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Activity &amp; State Chart Diagrams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743200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Activity Flow (Place Order)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2881312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Order State Chart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7537" y="3095625"/>
            <a:ext cx="390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2712" y="3581400"/>
            <a:ext cx="1400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Login &amp; Browse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0800" y="4105275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Add to Cart &amp; Checkout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9862" y="4629150"/>
            <a:ext cx="1285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Order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5575" y="3271837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State 1: New Order Placed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5575" y="3671887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State 2: Order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5575" y="4071937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State 3: Processing &amp; Packing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5575" y="4471987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State 4: Shipped &amp; Delivered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2262"/>
            <a:ext cx="5391150" cy="1876425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3033712"/>
            <a:ext cx="5391150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3548062"/>
            <a:ext cx="2447925" cy="36195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34450" y="3548062"/>
            <a:ext cx="2447925" cy="36195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91275" y="4005262"/>
            <a:ext cx="2447925" cy="36195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4450" y="4005262"/>
            <a:ext cx="2447925" cy="36195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14 • Interaction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Sequence &amp; Collaboration Diagrams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062287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Sequence Flow (Message Passing)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3233737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Collaboration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376612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1.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Customer → System UI: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Submit Login 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624262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2.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System UI → Database: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Validate User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71912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3.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Customer → Cart Object: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Add Product 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119562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4.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Cart Object → Order Module: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Trigger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367212"/>
            <a:ext cx="6238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5.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Order Module → Database: </a:t>
            </a:r>
            <a:r>
              <a:rPr b="0" sz="1050" i="1" u="none">
                <a:solidFill>
                  <a:srgbClr val="334155"/>
                </a:solidFill>
                <a:latin typeface="Plus Jakarta Sans"/>
              </a:rPr>
              <a:t>Store Order &amp; 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643312"/>
            <a:ext cx="2352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700" y="3643312"/>
            <a:ext cx="2352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Product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100512"/>
            <a:ext cx="2352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Shopping Cart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700" y="4100512"/>
            <a:ext cx="2352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Order Processing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3187"/>
            <a:ext cx="5391150" cy="231457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528887"/>
            <a:ext cx="5391150" cy="2543175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625" y="3157537"/>
            <a:ext cx="4991100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3576637"/>
            <a:ext cx="4991100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3995737"/>
            <a:ext cx="4991100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25" y="4414837"/>
            <a:ext cx="4991100" cy="3429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91275" y="3043237"/>
            <a:ext cx="4991100" cy="38100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1275" y="3767137"/>
            <a:ext cx="4991100" cy="38100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1275" y="4491037"/>
            <a:ext cx="4991100" cy="38100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3519487"/>
            <a:ext cx="49911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4243387"/>
            <a:ext cx="49911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15 • 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Component &amp; Deployment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843212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Software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2728912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Physical Deployment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233737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UI Component (Web Browser Layer)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652837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Auth &amp; Cart Processing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071937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Product &amp; Order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4491037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Relational MySQL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2637" y="3138487"/>
            <a:ext cx="6048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Plus Jakarta Sans"/>
              </a:rPr>
              <a:t>Client Node (Mobile / Desktop)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2637" y="3862387"/>
            <a:ext cx="6048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Plus Jakarta Sans"/>
              </a:rPr>
              <a:t>Apache / Nginx Web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2637" y="4586287"/>
            <a:ext cx="6048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Plus Jakarta Sans"/>
              </a:rPr>
              <a:t>Database Server (MySQL)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23950"/>
            <a:ext cx="539115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123950"/>
            <a:ext cx="5391150" cy="5353050"/>
          </a:xfrm>
          <a:prstGeom prst="roundRect">
            <a:avLst>
              <a:gd name="adj" fmla="val 21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625" y="1638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2019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2400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25" y="2781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625" y="3162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1275" y="1638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1275" y="2019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1275" y="2400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91275" y="2781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1275" y="3162300"/>
            <a:ext cx="4991100" cy="323850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81000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16 • Process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0075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Proposed System Flowchart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1323975"/>
            <a:ext cx="65508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Customer Flowchart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1323975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Administrator Flowchart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937" y="1714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Register /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937" y="2095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Browse / Search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937" y="2476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Add Selected Items to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937" y="2857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Provide Delivery Address &amp; 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937" y="3238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6534"/>
                </a:solidFill>
                <a:latin typeface="Plus Jakarta Sans"/>
              </a:rPr>
              <a:t>Receive Order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587" y="1714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Secure Admin 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3587" y="2095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Manage Categories &amp; 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3587" y="2476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Process Customer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587" y="2857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Update Delivery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3587" y="3238500"/>
            <a:ext cx="6086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66534"/>
                </a:solidFill>
                <a:latin typeface="Plus Jakarta Sans"/>
              </a:rPr>
              <a:t>Generate Analytics Reports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62650"/>
            <a:ext cx="109728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76375"/>
            <a:ext cx="5372100" cy="4257675"/>
          </a:xfrm>
          <a:prstGeom prst="roundRect">
            <a:avLst>
              <a:gd name="adj" fmla="val 26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476375"/>
            <a:ext cx="5372100" cy="4257675"/>
          </a:xfrm>
          <a:prstGeom prst="roundRect">
            <a:avLst>
              <a:gd name="adj" fmla="val 26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9626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0680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 Section 17 • Conclusion &amp; Next Steps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0962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Conclusion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124575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Thank You! Q&amp;A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1550" y="6138862"/>
            <a:ext cx="36004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SVPM's College of Computer Science, Baramati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1714500"/>
            <a:ext cx="64258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Project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105025"/>
            <a:ext cx="499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The proposed </a:t>
            </a:r>
            <a:r>
              <a:rPr b="1" sz="1200" i="0" u="none">
                <a:solidFill>
                  <a:srgbClr val="CBD5E1"/>
                </a:solidFill>
                <a:latin typeface="Plus Jakarta Sans"/>
              </a:rPr>
              <a:t>Online Shopping System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addresses key traditional retail flaws by automating order placement, inventory updates, and record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05125"/>
            <a:ext cx="4991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Eliminates paper redundancy, reduces processing time, and delivers continuous 24/7 shopping accessibility for customers.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1714500"/>
            <a:ext cx="5743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4D399"/>
                </a:solidFill>
                <a:latin typeface="Plus Jakarta Sans"/>
              </a:rPr>
              <a:t>Future Implementation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105025"/>
            <a:ext cx="5743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🚀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Next Semester Development: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Backend coding &amp; SQL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390775"/>
            <a:ext cx="5743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💳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Payment Gateway: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Integration of credit card &amp; UPI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2676525"/>
            <a:ext cx="5743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📱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Responsive Web/Mobile App: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Cross-platform mobile UX.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2962275"/>
            <a:ext cx="5743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🔔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Notifications: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Automated SMS and email order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